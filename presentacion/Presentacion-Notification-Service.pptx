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d3999aa5f4868" /><Relationship Type="http://schemas.openxmlformats.org/officeDocument/2006/relationships/extended-properties" Target="/docProps/app.xml" Id="R7047c4fc6bd24852" /><Relationship Type="http://schemas.openxmlformats.org/officeDocument/2006/relationships/officeDocument" Target="/ppt/presentation.xml" Id="Ra2a639e896b3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07ab46c1d4f96"/>
  </p:sldMasterIdLst>
  <p:notesMasterIdLst>
    <p:notesMasterId xmlns:r="http://schemas.openxmlformats.org/officeDocument/2006/relationships" r:id="R0e1bb0a3f36e43cd"/>
  </p:notesMasterIdLst>
  <p:sldIdLst>
    <p:sldId xmlns:r="http://schemas.openxmlformats.org/officeDocument/2006/relationships" id="256" r:id="Rc7fc476c43a44e0c"/>
    <p:sldId xmlns:r="http://schemas.openxmlformats.org/officeDocument/2006/relationships" id="257" r:id="R2c219f0376ef4510"/>
    <p:sldId xmlns:r="http://schemas.openxmlformats.org/officeDocument/2006/relationships" id="258" r:id="Rcb2f306b3ed34954"/>
    <p:sldId xmlns:r="http://schemas.openxmlformats.org/officeDocument/2006/relationships" id="259" r:id="R46656badca514c23"/>
    <p:sldId xmlns:r="http://schemas.openxmlformats.org/officeDocument/2006/relationships" id="260" r:id="R4765496919284713"/>
    <p:sldId xmlns:r="http://schemas.openxmlformats.org/officeDocument/2006/relationships" id="261" r:id="R2ef4766a20d743cd"/>
    <p:sldId xmlns:r="http://schemas.openxmlformats.org/officeDocument/2006/relationships" id="262" r:id="R5edc32080b314845"/>
    <p:sldId xmlns:r="http://schemas.openxmlformats.org/officeDocument/2006/relationships" id="263" r:id="R65c883633e03488d"/>
    <p:sldId xmlns:r="http://schemas.openxmlformats.org/officeDocument/2006/relationships" id="264" r:id="R9d471ac85ac5400d"/>
    <p:sldId xmlns:r="http://schemas.openxmlformats.org/officeDocument/2006/relationships" id="265" r:id="R2199eb9e872b44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6af7ace4448ac" /><Relationship Type="http://schemas.openxmlformats.org/officeDocument/2006/relationships/slideMaster" Target="/ppt/slideMasters/slideMaster1.xml" Id="Ra9a07ab46c1d4f96" /><Relationship Type="http://schemas.openxmlformats.org/officeDocument/2006/relationships/notesMaster" Target="/ppt/notesMasters/notesMaster1.xml" Id="R0e1bb0a3f36e43cd" /><Relationship Type="http://schemas.openxmlformats.org/officeDocument/2006/relationships/presProps" Target="/ppt/presProps.xml" Id="R6cec08a2f7e54713" /><Relationship Type="http://schemas.openxmlformats.org/officeDocument/2006/relationships/tableStyles" Target="/ppt/tableStyles.xml" Id="R2c127cddfb0d4806" /><Relationship Type="http://schemas.openxmlformats.org/officeDocument/2006/relationships/slide" Target="/ppt/slides/slide1.xml" Id="Rc7fc476c43a44e0c" /><Relationship Type="http://schemas.openxmlformats.org/officeDocument/2006/relationships/slide" Target="/ppt/slides/slide2.xml" Id="R2c219f0376ef4510" /><Relationship Type="http://schemas.openxmlformats.org/officeDocument/2006/relationships/slide" Target="/ppt/slides/slide3.xml" Id="Rcb2f306b3ed34954" /><Relationship Type="http://schemas.openxmlformats.org/officeDocument/2006/relationships/slide" Target="/ppt/slides/slide4.xml" Id="R46656badca514c23" /><Relationship Type="http://schemas.openxmlformats.org/officeDocument/2006/relationships/slide" Target="/ppt/slides/slide5.xml" Id="R4765496919284713" /><Relationship Type="http://schemas.openxmlformats.org/officeDocument/2006/relationships/slide" Target="/ppt/slides/slide6.xml" Id="R2ef4766a20d743cd" /><Relationship Type="http://schemas.openxmlformats.org/officeDocument/2006/relationships/slide" Target="/ppt/slides/slide7.xml" Id="R5edc32080b314845" /><Relationship Type="http://schemas.openxmlformats.org/officeDocument/2006/relationships/slide" Target="/ppt/slides/slide8.xml" Id="R65c883633e03488d" /><Relationship Type="http://schemas.openxmlformats.org/officeDocument/2006/relationships/slide" Target="/ppt/slides/slide9.xml" Id="R9d471ac85ac5400d" /><Relationship Type="http://schemas.openxmlformats.org/officeDocument/2006/relationships/slide" Target="/ppt/slides/slide10.xml" Id="R2199eb9e872b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4496e0900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e96184bef4001" /><Relationship Type="http://schemas.openxmlformats.org/officeDocument/2006/relationships/notesMaster" Target="/ppt/notesMasters/notesMaster1.xml" Id="R7c00a58e0f20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035be9adb45fa" /><Relationship Type="http://schemas.openxmlformats.org/officeDocument/2006/relationships/notesMaster" Target="/ppt/notesMasters/notesMaster1.xml" Id="R9614f10d2ae0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e0c3f36554b7e" /><Relationship Type="http://schemas.openxmlformats.org/officeDocument/2006/relationships/notesMaster" Target="/ppt/notesMasters/notesMaster1.xml" Id="R195d1f665e0e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ba6bf34404c15" /><Relationship Type="http://schemas.openxmlformats.org/officeDocument/2006/relationships/notesMaster" Target="/ppt/notesMasters/notesMaster1.xml" Id="R6c1e8da2ab3448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b5f7472cb348a0" /><Relationship Type="http://schemas.openxmlformats.org/officeDocument/2006/relationships/notesMaster" Target="/ppt/notesMasters/notesMaster1.xml" Id="R4d221ab84bea40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905037446c4d4d" /><Relationship Type="http://schemas.openxmlformats.org/officeDocument/2006/relationships/notesMaster" Target="/ppt/notesMasters/notesMaster1.xml" Id="R843e264a5b9c47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4c2017b9624710" /><Relationship Type="http://schemas.openxmlformats.org/officeDocument/2006/relationships/notesMaster" Target="/ppt/notesMasters/notesMaster1.xml" Id="Rc4fb8abb6b37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23ceb67254861" /><Relationship Type="http://schemas.openxmlformats.org/officeDocument/2006/relationships/notesMaster" Target="/ppt/notesMasters/notesMaster1.xml" Id="R66869fd8d60840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1b06fda194c25" /><Relationship Type="http://schemas.openxmlformats.org/officeDocument/2006/relationships/notesMaster" Target="/ppt/notesMasters/notesMaster1.xml" Id="R13267ec08d1243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962c52485b49b1" /><Relationship Type="http://schemas.openxmlformats.org/officeDocument/2006/relationships/notesMaster" Target="/ppt/notesMasters/notesMaster1.xml" Id="Rfcd9f8937510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c8d4b02eb4b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332bc376148a7" /><Relationship Type="http://schemas.openxmlformats.org/officeDocument/2006/relationships/slideLayout" Target="/ppt/slideLayouts/slideLayout1.xml" Id="R088c95f2aa7348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c95f2aa73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19ecc33674285" /><Relationship Type="http://schemas.openxmlformats.org/officeDocument/2006/relationships/notesSlide" Target="/ppt/notesSlides/notesSlide1.xml" Id="Rcea92867c6ae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fccfd5bc4b37" /><Relationship Type="http://schemas.openxmlformats.org/officeDocument/2006/relationships/notesSlide" Target="/ppt/notesSlides/notesSlide2.xml" Id="Rad9309d9e00a47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538a6eb744fa8" /><Relationship Type="http://schemas.openxmlformats.org/officeDocument/2006/relationships/notesSlide" Target="/ppt/notesSlides/notesSlide3.xml" Id="Rd9d6fab6ad5f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b2588ad404f64" /><Relationship Type="http://schemas.openxmlformats.org/officeDocument/2006/relationships/image" Target="/ppt/media/image.png" Id="R9509ee49504840b9" /><Relationship Type="http://schemas.openxmlformats.org/officeDocument/2006/relationships/notesSlide" Target="/ppt/notesSlides/notesSlide4.xml" Id="R5733baeeaa0f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8fefbc0764287" /><Relationship Type="http://schemas.openxmlformats.org/officeDocument/2006/relationships/image" Target="/ppt/media/image2.png" Id="Ra598ad31ac5a4697" /><Relationship Type="http://schemas.openxmlformats.org/officeDocument/2006/relationships/notesSlide" Target="/ppt/notesSlides/notesSlide5.xml" Id="R5a354bf9408f4b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f41b64ca0444d" /><Relationship Type="http://schemas.openxmlformats.org/officeDocument/2006/relationships/image" Target="/ppt/media/image3.png" Id="Re4ce4a0a12e047e6" /><Relationship Type="http://schemas.openxmlformats.org/officeDocument/2006/relationships/notesSlide" Target="/ppt/notesSlides/notesSlide6.xml" Id="R9d28c8325a82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783f3001b4ed5" /><Relationship Type="http://schemas.openxmlformats.org/officeDocument/2006/relationships/image" Target="/ppt/media/image4.png" Id="R7a5f88b0c241417d" /><Relationship Type="http://schemas.openxmlformats.org/officeDocument/2006/relationships/image" Target="/ppt/media/image5.png" Id="Rbaa1082b391e4300" /><Relationship Type="http://schemas.openxmlformats.org/officeDocument/2006/relationships/notesSlide" Target="/ppt/notesSlides/notesSlide7.xml" Id="R77de73da7a7141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c3677d9f4582" /><Relationship Type="http://schemas.openxmlformats.org/officeDocument/2006/relationships/notesSlide" Target="/ppt/notesSlides/notesSlide8.xml" Id="Rfd2c1c64881d40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e51b960644afc" /><Relationship Type="http://schemas.openxmlformats.org/officeDocument/2006/relationships/image" Target="/ppt/media/image6.png" Id="R7a8cb325552a4f4d" /><Relationship Type="http://schemas.openxmlformats.org/officeDocument/2006/relationships/image" Target="/ppt/media/image7.png" Id="Rd9acde19a4664d16" /><Relationship Type="http://schemas.openxmlformats.org/officeDocument/2006/relationships/image" Target="/ppt/media/image8.png" Id="Re87a302dddb94541" /><Relationship Type="http://schemas.openxmlformats.org/officeDocument/2006/relationships/notesSlide" Target="/ppt/notesSlides/notesSlide9.xml" Id="R6b8b77fecf5b4b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fb466f2034146" /><Relationship Type="http://schemas.openxmlformats.org/officeDocument/2006/relationships/notesSlide" Target="/ppt/notesSlides/notesSlide10.xml" Id="R3d23f9309911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1A78A-FD17-49FF-8292-8640746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FDC5-8390-4790-94B2-DDE38B6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5387"/>
                </a:solidFill>
              </a:defRPr>
            </a:pPr>
            <a:r>
              <a:rPr sz="1125" b="1">
                <a:solidFill>
                  <a:srgbClr val="E65387"/>
                </a:solidFill>
              </a:rPr>
              <a:t>RECONOCIMIENTO Y DEMOSTRACIÓN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04B0-5006-4D2B-8A7C-04C369A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B2443"/>
                </a:solidFill>
              </a:defRPr>
            </a:pPr>
            <a:r>
              <a:rPr sz="3900" b="1">
                <a:solidFill>
                  <a:srgbClr val="6B2443"/>
                </a:solidFill>
              </a:rPr>
              <a:t>Así funciona</a:t>
            </a:r>
          </a:p>
          <a:p xmlns:a="http://schemas.openxmlformats.org/drawingml/2006/main">
            <a:pPr algn="l">
              <a:defRPr sz="3900" b="1">
                <a:solidFill>
                  <a:srgbClr val="6B2443"/>
                </a:solidFill>
              </a:defRPr>
            </a:pPr>
            <a:r>
              <a:rPr sz="3900" b="1">
                <a:solidFill>
                  <a:srgbClr val="6B2443"/>
                </a:solidFill>
              </a:rPr>
              <a:t>notification-service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6F7DD-1A6E-4342-9DC7-DA39DA7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02333"/>
                </a:solidFill>
              </a:defRPr>
            </a:pPr>
            <a:r>
              <a:rPr sz="1950" b="0">
                <a:solidFill>
                  <a:srgbClr val="402333"/>
                </a:solidFill>
              </a:rPr>
              <a:t>De una solicitud a una notificación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8B19E-6C74-48A7-AF0F-2613FE3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238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F70B-0220-4CD3-BD9B-0F46C10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144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5387"/>
                </a:solidFill>
              </a:defRPr>
            </a:pPr>
            <a:r>
              <a:rPr sz="1200" b="1">
                <a:solidFill>
                  <a:srgbClr val="E65387"/>
                </a:solidFill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535EC-5D00-4A89-B186-C872D91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B03DD-5566-46B7-908F-80E1643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14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5387"/>
                </a:solidFill>
              </a:defRPr>
            </a:pPr>
            <a:r>
              <a:rPr sz="1200" b="1">
                <a:solidFill>
                  <a:srgbClr val="E65387"/>
                </a:solidFill>
              </a:rPr>
              <a:t>EVENTO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0C4F-E5C0-4C92-A646-673117F9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65387"/>
                </a:solidFill>
              </a:defRPr>
            </a:pPr>
            <a:r>
              <a:rPr sz="2400" b="1">
                <a:solidFill>
                  <a:srgbClr val="E65387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1142F-0D2A-4528-B6C7-5169EDA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D8E4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B337-A1AD-4170-B4C2-BB29387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95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2443"/>
                </a:solidFill>
              </a:defRPr>
            </a:pPr>
            <a:r>
              <a:rPr sz="1875" b="1">
                <a:solidFill>
                  <a:srgbClr val="6B2443"/>
                </a:solidFill>
              </a:rPr>
              <a:t>notification-service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B1F8B-F15D-4F6A-964E-53E1069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↙                         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AA319-CBA9-442E-9850-8806A5E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161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9B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42D3D-873F-47A6-8BAB-37DC3F27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96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9B70"/>
                </a:solidFill>
              </a:defRPr>
            </a:pPr>
            <a:r>
              <a:rPr sz="1200" b="1">
                <a:solidFill>
                  <a:srgbClr val="3C9B70"/>
                </a:solidFill>
              </a:rPr>
              <a:t>CORREO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BA3AE-5156-490A-8092-56BDD6D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1952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B24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7F111-7478-42BF-BEBD-62D5F54C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196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2443"/>
                </a:solidFill>
              </a:defRPr>
            </a:pPr>
            <a:r>
              <a:rPr sz="1200" b="1">
                <a:solidFill>
                  <a:srgbClr val="6B2443"/>
                </a:solidFill>
              </a:rPr>
              <a:t>BASE DE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A9263-A006-4A6C-B0D1-BD9CB4A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Danna Barrios  ·  Ficha 3145555  ·  19 de agosto de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AF2A4-801F-4FD4-957F-E0E895EB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1B610-C498-4F1B-AFF0-EA04886C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442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EA37C-DA8A-490D-8F3A-7FF84A15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1B079-3710-46FF-B03F-FD35B992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E85BA-94AF-4166-B9B7-1D3C21E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¿Qué hace este microservicio?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54557-C855-4ECC-90FC-DFD5F68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D5EF-16FA-4AE2-8989-3663C414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464BE-0B6A-481E-AE0B-592E352E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598DE-BF9F-438B-B5C7-49EA08A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Recibe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28FFA-D106-4682-B976-64AD6FC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Solicitudes enviadas directamente por una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55F29-F7CC-4A03-A2A0-BBB332E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1F5CA-35CB-44DE-9862-32CD2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42F0D-FDDF-4BB0-9EAE-2861F71F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Escucha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0F38A-3A8C-4F93-9CD9-459DFC73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Eventos producidos por otros servicios.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3A322-6704-4F18-B296-8040FCFE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5185A-D2AF-498C-AE8F-E97B80AC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DF345-A4A5-45C6-91AE-3146DFBC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Notifica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EEA01-3BE2-453E-9820-6ECD837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Guarda el resultado y entrega el mensaje.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B45B7-FD3B-45A0-A949-EAEB643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CECF2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1217A-C236-4CFB-8E61-B3171859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624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2443"/>
                </a:solidFill>
              </a:defRPr>
            </a:pPr>
            <a:r>
              <a:rPr sz="1950" b="1">
                <a:solidFill>
                  <a:srgbClr val="6B2443"/>
                </a:solidFill>
              </a:rPr>
              <a:t>Su trabajo es convertir una solicitud o un evento</a:t>
            </a:r>
          </a:p>
          <a:p xmlns:a="http://schemas.openxmlformats.org/drawingml/2006/main">
            <a:pPr algn="ctr">
              <a:defRPr sz="1950" b="1">
                <a:solidFill>
                  <a:srgbClr val="6B2443"/>
                </a:solidFill>
              </a:defRPr>
            </a:pPr>
            <a:r>
              <a:rPr sz="1950" b="1">
                <a:solidFill>
                  <a:srgbClr val="6B2443"/>
                </a:solidFill>
              </a:rPr>
              <a:t>en una notificación útil para una persona.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2A264-AC07-4A5F-BC07-F5A7EBA8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75E69"/>
                </a:solidFill>
              </a:defRPr>
            </a:pPr>
            <a:r>
              <a:rPr sz="1425" b="0">
                <a:solidFill>
                  <a:srgbClr val="775E69"/>
                </a:solidFill>
              </a:rPr>
              <a:t>Lo comprobé leyendo, ejecutando y siguiendo el flujo completo.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F7703-6385-41C1-A1AE-C33FE12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28C4F-F17D-4D59-AF05-98C016D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473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46D3F-ED27-4F31-9FD4-362989C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D709E-3525-4EAB-A08A-D7F748B2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VISTA GENERAL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128E4-8467-4D10-B3AF-7034B1FD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El recorrido de una notificación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441D6-5A7A-4607-A692-AA709F8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D75A-18FA-40A8-9F20-0013D05A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3CEBB-D7B5-495C-A57B-5A4194D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86233-AAC7-4287-9CF4-C8E78A9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Solicitud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o evento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138EF-0EDF-4426-9D2B-5F9E0FE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86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C32C9-783C-4D6D-933F-EBF52F90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D8E4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8B7D0-5BAD-4AF3-B854-93CCADB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2EB3E-12B7-4936-BFC1-1E122CBF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Servicio de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notificaciones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DDE8C-D2F9-4BB4-A4E5-21AA212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86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70D30-7A24-4BAA-89F0-873CA855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849BC-C0CB-45CC-B47C-FE7772B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43F70-4FBE-411D-9247-22C5FD19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Plantilla del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mensaje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AD3D3-E702-4B01-939E-EE57A5C1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86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A8777-AC56-402E-B0D6-B8EDCD63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2BED1-0B61-4FE7-A4D1-B051098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E6572-205C-489D-81A6-5AA8379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Correo o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IN_APP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67B1F-5812-4AD9-A36A-D3EC677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86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8802B-F343-4C15-B61A-EE5AF3DE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BEA37-4139-4896-84CD-2C455A1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883B4-1931-4A2C-B480-B878EA4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Registro en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la base de datos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35704-94CE-4DF0-BCB3-F6EFAEF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CF2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08D01-78C0-4DF5-875C-BE2EA08C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2333"/>
                </a:solidFill>
              </a:defRPr>
            </a:pPr>
            <a:r>
              <a:rPr sz="1650" b="1">
                <a:solidFill>
                  <a:srgbClr val="402333"/>
                </a:solidFill>
              </a:rPr>
              <a:t>RabbitMQ lleva los eventos hasta el worker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33FFB-3294-4357-B360-856C7579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5E69"/>
                </a:solidFill>
              </a:defRPr>
            </a:pPr>
            <a:r>
              <a:rPr sz="1575" b="0">
                <a:solidFill>
                  <a:srgbClr val="775E69"/>
                </a:solidFill>
              </a:rPr>
              <a:t>Dos entradas diferentes, un mismo objetivo: informar.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2018C-75C6-4DE2-B0A4-E675F0D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900885-5D06-4686-820C-5B304DE2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1448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58EF4-C869-4773-AA62-71F4DE8D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500ED-3065-4E5D-A640-33CE772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PRIMERA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6C438-133F-416F-9138-A0D7470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La API recibe y valida la solicitud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FA0DB-586E-4142-B5CD-BB28392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9DB11-C2AC-40C1-B1B1-C83E3469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476875" cy="3571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9ee49504840b9"/>
          <a:stretch xmlns:a="http://schemas.openxmlformats.org/drawingml/2006/main"/>
        </p:blipFill>
        <p:spPr>
          <a:xfrm xmlns:a="http://schemas.openxmlformats.org/drawingml/2006/main">
            <a:off x="619125" y="1911934"/>
            <a:ext cx="5381625" cy="2986506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C097C-5ED0-4B6C-9A22-357F2AC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47612-0F11-4B97-869D-A9C8EAE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C9B70"/>
                </a:solidFill>
              </a:defRPr>
            </a:pPr>
            <a:r>
              <a:rPr sz="1800" b="1">
                <a:solidFill>
                  <a:srgbClr val="3C9B70"/>
                </a:solidFill>
              </a:rPr>
              <a:t>Solicitud correcta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934E0-C99B-4D66-9842-A28DAAD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La API responde y crea la notificación</a:t>
            </a:r>
          </a:p>
          <a:p xmlns:a="http://schemas.openxmlformats.org/drawingml/2006/main">
            <a:pPr algn="l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con estado inicial PENDING.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53D48-2229-40D0-98B3-9A0ADB63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4762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BCBD2-A39E-400D-9EB7-FFFBE48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D65"/>
                </a:solidFill>
              </a:defRPr>
            </a:pPr>
            <a:r>
              <a:rPr sz="1800" b="1">
                <a:solidFill>
                  <a:srgbClr val="C84D65"/>
                </a:solidFill>
              </a:rPr>
              <a:t>Solicitud incorrecta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FCAB8-0519-496C-82F7-B4FE702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338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Un canal no permitido produce un</a:t>
            </a:r>
          </a:p>
          <a:p xmlns:a="http://schemas.openxmlformats.org/drawingml/2006/main">
            <a:pPr algn="l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error de validación controlado.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432C9-CCFF-4F87-B36C-06EFF5D1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48250"/>
            <a:ext cx="3714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45195-1B72-4DD8-892A-2DB208C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339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5387"/>
                </a:solidFill>
              </a:defRPr>
            </a:pPr>
            <a:r>
              <a:rPr sz="1200" b="1">
                <a:solidFill>
                  <a:srgbClr val="E65387"/>
                </a:solidFill>
              </a:rPr>
              <a:t>La información se valida antes de guardarse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CD756-B3AC-48B5-AFEE-DF7BEED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A31EA-D48A-4C9A-8CC5-FE02AB9A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2409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0ADC2-79BD-4A82-9E93-E0D0977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657BD-2352-439B-9DE3-B2068FD3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SEGUNDA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375AA-E077-4548-8E33-E04CA4D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Seguí un evento desde RabbitMQ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4B53F-3B54-4670-AACA-E8904E2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C8147-BA17-40E9-95B1-41EBF1B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715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8ad31ac5a4697"/>
          <a:stretch xmlns:a="http://schemas.openxmlformats.org/drawingml/2006/main"/>
        </p:blipFill>
        <p:spPr>
          <a:xfrm xmlns:a="http://schemas.openxmlformats.org/drawingml/2006/main">
            <a:off x="619125" y="2170383"/>
            <a:ext cx="5619750" cy="2517234"/>
          </a:xfrm>
          <a:prstGeom xmlns:a="http://schemas.openxmlformats.org/drawingml/2006/main" prst="roundRect">
            <a:avLst>
              <a:gd name="adj" fmla="val 21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010B-C42D-4331-9AD7-6AD6CAF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33387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ECF2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07FF6-9580-4B42-B8E3-B1C48F30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2443"/>
                </a:solidFill>
              </a:defRPr>
            </a:pPr>
            <a:r>
              <a:rPr sz="1575" b="1">
                <a:solidFill>
                  <a:srgbClr val="6B2443"/>
                </a:solidFill>
              </a:rPr>
              <a:t>Servicio externo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72A8C-C67B-4A3B-8B4F-60A76D7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C5C9E-BE5C-4257-BF98-F3ED8332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5387"/>
                </a:solidFill>
              </a:defRPr>
            </a:pPr>
            <a:r>
              <a:rPr sz="1725" b="1">
                <a:solidFill>
                  <a:srgbClr val="E65387"/>
                </a:solidFill>
              </a:rPr>
              <a:t>RabbitMQ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3AF0E-933A-40E6-B639-27C0FBF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387"/>
                </a:solidFill>
              </a:defRPr>
            </a:pPr>
            <a:r>
              <a:rPr sz="2100" b="1">
                <a:solidFill>
                  <a:srgbClr val="E65387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874C1-5AD2-492F-8FA2-A8831FA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2443"/>
                </a:solidFill>
              </a:defRPr>
            </a:pPr>
            <a:r>
              <a:rPr sz="1575" b="1">
                <a:solidFill>
                  <a:srgbClr val="6B2443"/>
                </a:solidFill>
              </a:rPr>
              <a:t>notification-worker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530E3-6350-4D19-8731-25236E3F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67250"/>
            <a:ext cx="414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75E69"/>
                </a:solidFill>
              </a:defRPr>
            </a:pPr>
            <a:r>
              <a:rPr sz="1425" b="0">
                <a:solidFill>
                  <a:srgbClr val="775E69"/>
                </a:solidFill>
              </a:rPr>
              <a:t>El worker permanece escuchando y procesa</a:t>
            </a:r>
          </a:p>
          <a:p xmlns:a="http://schemas.openxmlformats.org/drawingml/2006/main">
            <a:pPr algn="ctr">
              <a:defRPr sz="1425" b="0">
                <a:solidFill>
                  <a:srgbClr val="775E69"/>
                </a:solidFill>
              </a:defRPr>
            </a:pPr>
            <a:r>
              <a:rPr sz="1425" b="0">
                <a:solidFill>
                  <a:srgbClr val="775E69"/>
                </a:solidFill>
              </a:rPr>
              <a:t>los eventos que reconoce.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90181-C473-4145-B96B-122F598A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3B2A8-737B-4ECF-A4CA-4C7F2D4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335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894E7-F895-495E-B5BD-0F84C3B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5AE43-2B48-431F-9B4E-F7E3676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RESULTADO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7A4C-6F9A-4E13-91FC-9DC6D22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La notificación llegó al correo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C43D-E6B7-45FD-921F-B21AD1C4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AAEDB-1CD5-436C-8859-3DBCB01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381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e4a0a12e047e6"/>
          <a:stretch xmlns:a="http://schemas.openxmlformats.org/drawingml/2006/main"/>
        </p:blipFill>
        <p:spPr>
          <a:xfrm xmlns:a="http://schemas.openxmlformats.org/drawingml/2006/main">
            <a:off x="619125" y="2105182"/>
            <a:ext cx="6286500" cy="2838136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52ECF-D4FF-4504-823A-8BF68A3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62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D575A-5684-4A38-A2B4-0EB68AE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5387"/>
                </a:solidFill>
              </a:defRPr>
            </a:pPr>
            <a:r>
              <a:rPr sz="1425" b="1">
                <a:solidFill>
                  <a:srgbClr val="E6538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3A212-13DF-44E8-B43A-259DC43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2443"/>
                </a:solidFill>
              </a:defRPr>
            </a:pPr>
            <a:r>
              <a:rPr sz="1575" b="1">
                <a:solidFill>
                  <a:srgbClr val="6B2443"/>
                </a:solidFill>
              </a:rPr>
              <a:t>El worker creó el mensaje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AF6E1-9E41-489C-A874-FA05A91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Usó la información del evento.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9F8A4-0108-47C1-94F4-51225D4B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3762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1ED2D-7577-49BB-BD9D-60E96F1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5387"/>
                </a:solidFill>
              </a:defRPr>
            </a:pPr>
            <a:r>
              <a:rPr sz="1425" b="1">
                <a:solidFill>
                  <a:srgbClr val="E65387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C5427-645D-4E1A-A788-284B7E07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2443"/>
                </a:solidFill>
              </a:defRPr>
            </a:pPr>
            <a:r>
              <a:rPr sz="1575" b="1">
                <a:solidFill>
                  <a:srgbClr val="6B2443"/>
                </a:solidFill>
              </a:rPr>
              <a:t>MailHog recibió el correo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6C473-0CC6-4D90-9046-9CCA3DD8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La entrega quedó visible.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8B5DE-3527-4B60-A516-4D57D412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30003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9B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D486D-30F0-4A8D-BAF3-424727A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848225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9B70"/>
                </a:solidFill>
              </a:defRPr>
            </a:pPr>
            <a:r>
              <a:rPr sz="1200" b="1">
                <a:solidFill>
                  <a:srgbClr val="3C9B70"/>
                </a:solidFill>
              </a:rPr>
              <a:t>Evidencia real en el entorno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2671E-6FCA-4A16-A517-9D86F0FD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F87EC-A596-4913-8B23-692BAD2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8541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93407-D383-45A5-A2A1-D7127E5A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A998C-BCBC-4874-8600-FC9DF9B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MÁS CAPACIDADES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A5F39-3ACC-464C-864D-876A31D8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Se puede consultar y personalizar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49A4-51EC-4A50-A767-7A8ABB9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70066-433D-450E-8083-FB850931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91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f88b0c241417d"/>
          <a:stretch xmlns:a="http://schemas.openxmlformats.org/drawingml/2006/main"/>
        </p:blipFill>
        <p:spPr>
          <a:xfrm xmlns:a="http://schemas.openxmlformats.org/drawingml/2006/main">
            <a:off x="619125" y="2239500"/>
            <a:ext cx="5095875" cy="1712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A7710-8B2E-4857-B1EB-C3CE36F7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5191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082b391e4300"/>
          <a:stretch xmlns:a="http://schemas.openxmlformats.org/drawingml/2006/main"/>
        </p:blipFill>
        <p:spPr>
          <a:xfrm xmlns:a="http://schemas.openxmlformats.org/drawingml/2006/main">
            <a:off x="7154374" y="1666875"/>
            <a:ext cx="3741127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B2CBE-4780-4064-9C85-B7C1297D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C951C-FC75-4C4D-8AD4-B3C64CAD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200 encontrada  ·  404 no existe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400 identificador inválido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7EF5B-E3EF-46C1-96D0-F412E4A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5387"/>
                </a:solidFill>
              </a:defRPr>
            </a:pPr>
            <a:r>
              <a:rPr sz="1275" b="1">
                <a:solidFill>
                  <a:srgbClr val="E65387"/>
                </a:solidFill>
              </a:rPr>
              <a:t>PLANTILLA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0D33F-6695-45C6-B1B7-D8B1873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9587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{{schedule_name}}</a:t>
            </a:r>
          </a:p>
          <a:p xmlns:a="http://schemas.openxmlformats.org/drawingml/2006/main">
            <a:pPr algn="ctr">
              <a:defRPr sz="1425" b="1">
                <a:solidFill>
                  <a:srgbClr val="6B2443"/>
                </a:solidFill>
              </a:defRPr>
            </a:pPr>
            <a:r>
              <a:rPr sz="1425" b="1">
                <a:solidFill>
                  <a:srgbClr val="6B2443"/>
                </a:solidFill>
              </a:rPr>
              <a:t>se convirtió en “Agosto-2026”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5A6F2-8D1C-4F40-A2D8-EBDC12D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2DCDB-C11A-469E-A296-043A29F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4118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05ABC-C578-4E45-A6C9-64860DB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160A9-90BD-4585-8621-6A588F2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PRUEBAS DE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E1DDD-90E4-409F-9942-9F8CFFE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¿Qué ocurre cuando algo falla?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6103C-1AE3-4906-A80A-5E6190D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85564-BA0D-42F2-971E-7AC674B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D7C32-6A6C-4A16-B9EE-0FC1F34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2A031-954A-4739-81DC-659F27C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El worker sigue activo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1DFB8-AE03-4348-97C5-5D2DEB7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Los errores no detuvieron el proceso completo.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FF578-DC9C-46FC-BB91-25192CD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52B8E-3A7E-4A05-B3CA-38521FE3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67D68-2769-4F50-BEF5-46867F9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Un solo registro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80A1A-52A7-4CBB-8397-7F838693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La base de datos evitó duplicar la fila.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65809-5485-476E-862C-636999F6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86416-EEFA-44CA-B3D2-2A9732D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!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48544-5ECE-4B8B-A518-B4B793D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71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Faltan reintentos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91CD1-2B1D-4B3C-8989-9A1D1187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574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5E69"/>
                </a:solidFill>
              </a:defRPr>
            </a:pPr>
            <a:r>
              <a:rPr sz="1275" b="0">
                <a:solidFill>
                  <a:srgbClr val="775E69"/>
                </a:solidFill>
              </a:rPr>
              <a:t>Algunos mensajes fallidos pueden perderse.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93DC8-5681-4BD5-9E90-0B38204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D8E4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3C27E-E384-4912-815C-6899B3C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5387"/>
                </a:solidFill>
              </a:defRPr>
            </a:pPr>
            <a:r>
              <a:rPr sz="1425" b="1">
                <a:solidFill>
                  <a:srgbClr val="E65387"/>
                </a:solidFill>
              </a:rPr>
              <a:t>Mejora principal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023A8-1CDA-480E-B098-A86901D1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2443"/>
                </a:solidFill>
              </a:defRPr>
            </a:pPr>
            <a:r>
              <a:rPr sz="1875" b="1">
                <a:solidFill>
                  <a:srgbClr val="6B2443"/>
                </a:solidFill>
              </a:rPr>
              <a:t>Agregar reintentos controlados y una cola para mensajes fallidos.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9CE2D-9B20-41FF-AB28-8FC5DA5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75E69"/>
                </a:solidFill>
              </a:defRPr>
            </a:pPr>
            <a:r>
              <a:rPr sz="1350" b="0">
                <a:solidFill>
                  <a:srgbClr val="775E69"/>
                </a:solidFill>
              </a:rPr>
              <a:t>También conviene impedir que un correo se envíe dos veces.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8063F-3844-4E9E-81D8-C701007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FB5F9-5EE9-4576-93D6-57A6BD6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6322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6299A-58F1-41C5-A961-F12CEEE5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90E18-6D60-48E4-90BE-7E6B3ED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PRUEBA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76A5-8822-4110-B024-08B41AB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El evento recorrió todo 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46D90-048F-46A2-B3C3-CFE0365E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FE03B-E819-404F-9105-9BF7DF01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347662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cb325552a4f4d"/>
          <a:stretch xmlns:a="http://schemas.openxmlformats.org/drawingml/2006/main"/>
        </p:blipFill>
        <p:spPr>
          <a:xfrm xmlns:a="http://schemas.openxmlformats.org/drawingml/2006/main">
            <a:off x="523875" y="2163246"/>
            <a:ext cx="3381375" cy="1483758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A67AA-5849-4282-8E0E-17DFCB7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71625"/>
            <a:ext cx="347662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de19a4664d16"/>
          <a:stretch xmlns:a="http://schemas.openxmlformats.org/drawingml/2006/main"/>
        </p:blipFill>
        <p:spPr>
          <a:xfrm xmlns:a="http://schemas.openxmlformats.org/drawingml/2006/main">
            <a:off x="4400550" y="2466077"/>
            <a:ext cx="3381375" cy="87809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EF9FA-5125-4981-BFC5-1CB952B9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47662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a302dddb94541"/>
          <a:stretch xmlns:a="http://schemas.openxmlformats.org/drawingml/2006/main"/>
        </p:blipFill>
        <p:spPr>
          <a:xfrm xmlns:a="http://schemas.openxmlformats.org/drawingml/2006/main">
            <a:off x="9069199" y="1619250"/>
            <a:ext cx="1816478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DFCAC-F847-4695-A119-4D5C54C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051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9B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9BA68-4FE2-4543-8B69-396AE9D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9B70"/>
                </a:solidFill>
              </a:defRPr>
            </a:pPr>
            <a:r>
              <a:rPr sz="1200" b="1">
                <a:solidFill>
                  <a:srgbClr val="3C9B70"/>
                </a:solidFill>
              </a:rPr>
              <a:t>1  Correo recibido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C3DF4-704D-49A4-817B-C7129EC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76750"/>
            <a:ext cx="29051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B24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8A4A5-7C32-4E6D-9795-64EF6D8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62475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2443"/>
                </a:solidFill>
              </a:defRPr>
            </a:pPr>
            <a:r>
              <a:rPr sz="1200" b="1">
                <a:solidFill>
                  <a:srgbClr val="6B2443"/>
                </a:solidFill>
              </a:rPr>
              <a:t>2  Registro guardado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4DC0A-EA5B-4E1A-9D2D-9D48C8CF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9051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68675-2623-457D-8390-165F122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62475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5387"/>
                </a:solidFill>
              </a:defRPr>
            </a:pPr>
            <a:r>
              <a:rPr sz="1200" b="1">
                <a:solidFill>
                  <a:srgbClr val="E65387"/>
                </a:solidFill>
              </a:rPr>
              <a:t>3  Recorrido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665C9-EC6F-41D0-90BC-B41789B5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ECF2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EA809-F1B1-46BF-8152-B0CAD35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24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2443"/>
                </a:solidFill>
              </a:defRPr>
            </a:pPr>
            <a:r>
              <a:rPr sz="1650" b="1">
                <a:solidFill>
                  <a:srgbClr val="6B2443"/>
                </a:solidFill>
              </a:rPr>
              <a:t>Evento → worker → plantilla → correo → base de datos → traza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F3E17-6548-40FD-A7DE-F005ECC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98EB1-29E0-4ECE-8B6F-CC6B1D8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31931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12B87-F29A-4E9C-9394-8A0D4457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C75F9-DD2C-4BF7-BAC3-FC508C6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387"/>
                </a:solidFill>
              </a:defRPr>
            </a:pPr>
            <a:r>
              <a:rPr sz="1050" b="1">
                <a:solidFill>
                  <a:srgbClr val="E65387"/>
                </a:solidFill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4627-1162-4F03-9DBF-7B0AC7A2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B2443"/>
                </a:solidFill>
              </a:defRPr>
            </a:pPr>
            <a:r>
              <a:rPr sz="2700" b="1">
                <a:solidFill>
                  <a:srgbClr val="6B2443"/>
                </a:solidFill>
              </a:rPr>
              <a:t>¿Qué aprendí y qué mejoraría?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27690-87CD-487F-81BB-DF6F1FB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55D77-3E81-4CF3-87EB-77E103C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8A8D8-97DE-4597-98A0-4707B794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C9B70"/>
                </a:solidFill>
              </a:defRPr>
            </a:pPr>
            <a:r>
              <a:rPr sz="1875" b="1">
                <a:solidFill>
                  <a:srgbClr val="3C9B70"/>
                </a:solidFill>
              </a:rPr>
              <a:t>Comprobé que…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761A6-F462-41D0-B112-F6F3C36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095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La API recibe y valida solicitudes.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El worker procesa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Los correos, datos y trazas funcionan.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6695-4BEC-4B78-8127-7108E0AD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7D8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B83A9-E8A7-4D40-8F52-C04E918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5387"/>
                </a:solidFill>
              </a:defRPr>
            </a:pPr>
            <a:r>
              <a:rPr sz="1875" b="1">
                <a:solidFill>
                  <a:srgbClr val="E65387"/>
                </a:solidFill>
              </a:rPr>
              <a:t>Mi propuesta es…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F499E-6334-4E38-8B21-F951641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095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Reintentar entregas fallidas.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Evitar correos duplicados.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02333"/>
                </a:solidFill>
              </a:defRPr>
            </a:pPr>
            <a:r>
              <a:rPr sz="1575" b="0">
                <a:solidFill>
                  <a:srgbClr val="402333"/>
                </a:solidFill>
              </a:rPr>
              <a:t>• Enviar los logs a un lugar central.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DDC53-DE2C-437E-A523-1BD9E8B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D8E4"/>
          </a:solidFill>
          <a:ln xmlns:a="http://schemas.openxmlformats.org/drawingml/2006/main" w="11430">
            <a:solidFill>
              <a:srgbClr val="E653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9A9B9-5043-4953-AD0D-B89866E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B2443"/>
                </a:solidFill>
              </a:defRPr>
            </a:pPr>
            <a:r>
              <a:rPr sz="1725" b="1">
                <a:solidFill>
                  <a:srgbClr val="6B2443"/>
                </a:solidFill>
              </a:rPr>
              <a:t>El flujo funciona de principio a fin y tiene mejoras claras.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074D-B995-4E2F-A70F-6B9F67A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65387"/>
                </a:solidFill>
              </a:defRPr>
            </a:pPr>
            <a:r>
              <a:rPr sz="1350" b="1">
                <a:solidFill>
                  <a:srgbClr val="E65387"/>
                </a:solidFill>
              </a:rPr>
              <a:t>Gracias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4794-57F2-4548-8561-55B5380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5E69"/>
                </a:solidFill>
              </a:defRPr>
            </a:pPr>
            <a:r>
              <a:rPr sz="825" b="0">
                <a:solidFill>
                  <a:srgbClr val="775E69"/>
                </a:solidFill>
              </a:rPr>
              <a:t>Danna Barrios  ·  Ficha 3145555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433A6-00C5-44A4-B126-77DB77E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5387"/>
                </a:solidFill>
              </a:defRPr>
            </a:pPr>
            <a:r>
              <a:rPr sz="825" b="1">
                <a:solidFill>
                  <a:srgbClr val="E6538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5621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2026-08-19T06:58:45.6720000Z</dcterms:created>
  <dcterms:modified xsi:type="dcterms:W3CDTF">2026-08-19T06:58:45.6720000Z</dcterms:modified>
</coreProperties>
</file>